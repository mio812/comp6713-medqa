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0" r:id="rId7"/>
    <p:sldId id="261" r:id="rId8"/>
    <p:sldId id="262" r:id="rId9"/>
    <p:sldId id="264" r:id="rId10"/>
    <p:sldId id="267" r:id="rId11"/>
    <p:sldId id="268" r:id="rId12"/>
    <p:sldId id="270" r:id="rId13"/>
    <p:sldId id="271" r:id="rId14"/>
    <p:sldId id="272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3" autoAdjust="0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741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4C5C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10607040" y="6565392"/>
            <a:ext cx="1463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MedQA · COMP6713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6565392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5C677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6414"/>
          </a:solidFill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6565392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5C677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9.xml.rels><?xml version="1.0" encoding="UTF-8"?>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/>
        </p:txBody>
      </p:sp>
      <p:sp>
        <p:nvSpPr>
          <p:cNvPr id="3" name="Shape 1"/>
          <p:cNvSpPr/>
          <p:nvPr/>
        </p:nvSpPr>
        <p:spPr>
          <a:xfrm>
            <a:off x="4023360" y="0"/>
            <a:ext cx="36576" cy="6858000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sp>
        <p:nvSpPr>
          <p:cNvPr id="4" name="Text 2"/>
          <p:cNvSpPr/>
          <p:nvPr/>
        </p:nvSpPr>
        <p:spPr>
          <a:xfrm>
            <a:off x="365760" y="2377440"/>
            <a:ext cx="365760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MedQA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365760" y="3749040"/>
            <a:ext cx="3657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Question Answering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480560" y="1463040"/>
            <a:ext cx="731520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Multi-Strategy Study of Medical QA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480560" y="2331720"/>
            <a:ext cx="7315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TF-IDF Baseline to PubMedBERT Fine-tuning and RAG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480560" y="3108960"/>
            <a:ext cx="914400" cy="45720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sp>
        <p:nvSpPr>
          <p:cNvPr id="9" name="Text 7"/>
          <p:cNvSpPr/>
          <p:nvPr/>
        </p:nvSpPr>
        <p:spPr>
          <a:xfrm>
            <a:off x="4480560" y="3383280"/>
            <a:ext cx="7315200" cy="2194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800"/>
              </a:lnSpc>
              <a:buNone/>
            </a:pPr>
            <a:r>
              <a:rPr lang="en-US" sz="1400" dirty="0">
                <a:solidFill>
                  <a:srgbClr val="C8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COMP6713 Natural Language Processing
</a:t>
            </a:r>
            <a:r>
              <a:rPr lang="en-US" sz="1400" dirty="0">
                <a:solidFill>
                  <a:srgbClr val="C8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Alearner
</a:t>
            </a:r>
            <a:r>
              <a:rPr lang="en-US" sz="1400" dirty="0">
                <a:solidFill>
                  <a:srgbClr val="C8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Yuyi Zhu · Songning Liu · Ian Zhao · Wanxin Ma · Muyi Yang
</a:t>
            </a:r>
            <a:r>
              <a:rPr lang="en-US" sz="1400" dirty="0">
                <a:solidFill>
                  <a:srgbClr val="C8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80560" y="6035040"/>
            <a:ext cx="7315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length: 5–7 minutes + Q&amp;A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Motivation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Medical QA is Hard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48640" cy="73152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sp>
        <p:nvSpPr>
          <p:cNvPr id="5" name="Text 3"/>
          <p:cNvSpPr/>
          <p:nvPr/>
        </p:nvSpPr>
        <p:spPr>
          <a:xfrm>
            <a:off x="640080" y="1554480"/>
            <a:ext cx="5120640" cy="411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QA</a:t>
            </a: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requires the system to understand questions in a clinical or research context, retrieve evidence from medical literature, and produce accurate, traceable answers.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to open-domain QA, the medical setting demands much higher 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factuality, interpretability, and controllability</a:t>
            </a: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8D3DA"/>
            </a:solidFill>
            <a:prstDash val="solid"/>
          </a:ln>
        </p:spPr>
        <p:txBody>
          <a:bodyPr/>
          <a:lstStyle/>
          <a:p/>
        </p:txBody>
      </p:sp>
      <p:sp>
        <p:nvSpPr>
          <p:cNvPr id="7" name="Shape 5"/>
          <p:cNvSpPr/>
          <p:nvPr/>
        </p:nvSpPr>
        <p:spPr>
          <a:xfrm>
            <a:off x="6263640" y="1755648"/>
            <a:ext cx="914400" cy="9144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/>
        </p:txBody>
      </p:sp>
      <p:sp>
        <p:nvSpPr>
          <p:cNvPr id="8" name="Text 6"/>
          <p:cNvSpPr/>
          <p:nvPr/>
        </p:nvSpPr>
        <p:spPr>
          <a:xfrm>
            <a:off x="6263640" y="1755648"/>
            <a:ext cx="9144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0" y="1719072"/>
            <a:ext cx="4206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 &amp; Synonyms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2121408"/>
            <a:ext cx="42062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ambiguity across abbreviations, brand names, INNs, and UMLS concepts.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306324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8D3DA"/>
            </a:solidFill>
            <a:prstDash val="solid"/>
          </a:ln>
        </p:spPr>
        <p:txBody>
          <a:bodyPr/>
          <a:lstStyle/>
          <a:p/>
        </p:txBody>
      </p:sp>
      <p:sp>
        <p:nvSpPr>
          <p:cNvPr id="12" name="Shape 10"/>
          <p:cNvSpPr/>
          <p:nvPr/>
        </p:nvSpPr>
        <p:spPr>
          <a:xfrm>
            <a:off x="6263640" y="3264408"/>
            <a:ext cx="914400" cy="9144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/>
        </p:txBody>
      </p:sp>
      <p:sp>
        <p:nvSpPr>
          <p:cNvPr id="13" name="Text 11"/>
          <p:cNvSpPr/>
          <p:nvPr/>
        </p:nvSpPr>
        <p:spPr>
          <a:xfrm>
            <a:off x="6263640" y="3264408"/>
            <a:ext cx="9144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0" y="3227832"/>
            <a:ext cx="4206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Format Variety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0" y="3630168"/>
            <a:ext cx="42062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dataset expects a different answer shape (yes/no/maybe, factoid noun phrase, free text); one model must adapt to multiple output formats.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26480" y="457200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8D3DA"/>
            </a:solidFill>
            <a:prstDash val="solid"/>
          </a:ln>
        </p:spPr>
        <p:txBody>
          <a:bodyPr/>
          <a:lstStyle/>
          <a:p/>
        </p:txBody>
      </p:sp>
      <p:sp>
        <p:nvSpPr>
          <p:cNvPr id="17" name="Shape 15"/>
          <p:cNvSpPr/>
          <p:nvPr/>
        </p:nvSpPr>
        <p:spPr>
          <a:xfrm>
            <a:off x="6263640" y="4773168"/>
            <a:ext cx="914400" cy="9144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/>
        </p:txBody>
      </p:sp>
      <p:sp>
        <p:nvSpPr>
          <p:cNvPr id="18" name="Text 16"/>
          <p:cNvSpPr/>
          <p:nvPr/>
        </p:nvSpPr>
        <p:spPr>
          <a:xfrm>
            <a:off x="6263640" y="4773168"/>
            <a:ext cx="9144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315200" y="4736592"/>
            <a:ext cx="4206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Requirement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0" y="5138928"/>
            <a:ext cx="420624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must be grounded in authoritative literature rather than model parametric knowledge to avoid hallucination.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6565392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5C677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132" y="73114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&amp; Annotation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184" y="603832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Public Corpora + UMLS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392" y="923894"/>
            <a:ext cx="548640" cy="69599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sp>
        <p:nvSpPr>
          <p:cNvPr id="5" name="Shape 3"/>
          <p:cNvSpPr/>
          <p:nvPr/>
        </p:nvSpPr>
        <p:spPr>
          <a:xfrm>
            <a:off x="777346" y="1307554"/>
            <a:ext cx="3474666" cy="1266615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8D3DA"/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777346" y="1069813"/>
            <a:ext cx="3474666" cy="502909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/>
        </p:txBody>
      </p:sp>
      <p:sp>
        <p:nvSpPr>
          <p:cNvPr id="7" name="Text 5"/>
          <p:cNvSpPr/>
          <p:nvPr/>
        </p:nvSpPr>
        <p:spPr>
          <a:xfrm>
            <a:off x="777292" y="1069771"/>
            <a:ext cx="3090634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PubMedQA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392" y="1572738"/>
            <a:ext cx="3383280" cy="5505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1k labelled+ 61k unlabelled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77392" y="1912994"/>
            <a:ext cx="3383280" cy="768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Yes/No/Maybe with long-answer paragraphs; ideal for type classification.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77" y="1307554"/>
            <a:ext cx="3474695" cy="126663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8D3DA"/>
            </a:solidFill>
            <a:prstDash val="solid"/>
          </a:ln>
        </p:spPr>
        <p:txBody>
          <a:bodyPr/>
          <a:lstStyle/>
          <a:p/>
        </p:txBody>
      </p:sp>
      <p:sp>
        <p:nvSpPr>
          <p:cNvPr id="11" name="Shape 9"/>
          <p:cNvSpPr/>
          <p:nvPr/>
        </p:nvSpPr>
        <p:spPr>
          <a:xfrm>
            <a:off x="4572077" y="1106391"/>
            <a:ext cx="3474695" cy="46639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/>
        </p:txBody>
      </p:sp>
      <p:sp>
        <p:nvSpPr>
          <p:cNvPr id="12" name="Text 10"/>
          <p:cNvSpPr/>
          <p:nvPr/>
        </p:nvSpPr>
        <p:spPr>
          <a:xfrm>
            <a:off x="4572052" y="1069771"/>
            <a:ext cx="1504482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BioASQ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72" y="1572738"/>
            <a:ext cx="1347480" cy="46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3,000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72072" y="2004248"/>
            <a:ext cx="3383280" cy="58643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Factoid noun-phrase answers (1–8 words); cross-validated accuracy &gt; 0.85.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66809" y="1307554"/>
            <a:ext cx="3474723" cy="126663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8D3D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8366809" y="1106330"/>
            <a:ext cx="3474723" cy="502909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8366812" y="1069771"/>
            <a:ext cx="165285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MedQA-USMLE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66751" y="1609244"/>
            <a:ext cx="1194795" cy="46148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12,000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366751" y="2004224"/>
            <a:ext cx="3383280" cy="5863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board exam multiple-choice; tests reasoning ceiling.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94" y="4793928"/>
            <a:ext cx="10972800" cy="1707846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C8D3D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822972" y="4793906"/>
            <a:ext cx="7315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 &amp; Agreement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3024" y="5727296"/>
            <a:ext cx="7884157" cy="127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PubMedQA double-annotation Cohen κ = 0.78; BioASQ multi-annotator consensus κ &gt; 0.85.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corpora unified to SQuAD v2 schema (with is_impossible + CLS fallback).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scispaCy + en_core_sci_lg extracts UMLS CUIs for query-expansion experiments and interpretability.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Train/val/test split is question- and PMID-deduplicated to prevent leakage.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6565392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5C677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777294" y="2681913"/>
            <a:ext cx="10972800" cy="1911298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C8D3D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1"/>
          <p:cNvSpPr/>
          <p:nvPr/>
        </p:nvSpPr>
        <p:spPr>
          <a:xfrm>
            <a:off x="822994" y="2753705"/>
            <a:ext cx="3657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16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</a:t>
            </a:r>
            <a:r>
              <a:rPr lang="en-US" sz="16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Highlights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822994" y="3119503"/>
            <a:ext cx="10972800" cy="137634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SQuAD-style corpus covering yes/no/maybe, factoid, and free-text answer types, with UMLS concept tags.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implementation of TF-IDF baseline, PubMedBERT fine-tuning, and RAG, all evaluated side by side.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with BGE-M3 + BGE-reranker-v2-m3 two-stage retrieval and answer-type-conditioned prompting.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Five-class error typology + per-source breakdown for interpretable analysis.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Backends, One Evaluation Harness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48640" cy="73152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4937754" cy="1005833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64602" cy="1005833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914400" y="1801368"/>
            <a:ext cx="40233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Rules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38" y="2098551"/>
            <a:ext cx="40233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vector · simple, reproducible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75221"/>
            <a:ext cx="4937754" cy="885353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640107" y="3275221"/>
            <a:ext cx="164575" cy="931075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14438" y="3275161"/>
            <a:ext cx="40233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PubMedBERT Fine-tuning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38" y="3543339"/>
            <a:ext cx="40233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 QA · span prediction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768844"/>
            <a:ext cx="4937754" cy="94615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E3641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640107" y="4768844"/>
            <a:ext cx="164575" cy="946156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914438" y="4768844"/>
            <a:ext cx="40233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(Qwen2.5-14B)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5034297"/>
            <a:ext cx="4023360" cy="589263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· long answers + citations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0" y="2240280"/>
            <a:ext cx="365760" cy="274320"/>
          </a:xfrm>
          <a:prstGeom prst="line">
            <a:avLst/>
          </a:prstGeom>
          <a:solidFill>
            <a:srgbClr val="5C677D"/>
          </a:solidFill>
          <a:ln w="12700">
            <a:solidFill>
              <a:srgbClr val="5C67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5669280" y="3657600"/>
            <a:ext cx="365760" cy="274320"/>
          </a:xfrm>
          <a:prstGeom prst="line">
            <a:avLst/>
          </a:prstGeom>
          <a:solidFill>
            <a:srgbClr val="5C677D"/>
          </a:solidFill>
          <a:ln w="12700">
            <a:solidFill>
              <a:srgbClr val="5C67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5669280" y="5074920"/>
            <a:ext cx="365760" cy="274320"/>
          </a:xfrm>
          <a:prstGeom prst="line">
            <a:avLst/>
          </a:prstGeom>
          <a:solidFill>
            <a:srgbClr val="5C677D"/>
          </a:solidFill>
          <a:ln w="12700">
            <a:solidFill>
              <a:srgbClr val="5C677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6400800" y="169164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583680" y="1828800"/>
            <a:ext cx="4846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Evaluation Harness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83680" y="2212848"/>
            <a:ext cx="4846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8D3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scripts/eval/run_eval.py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2560320"/>
            <a:ext cx="4754880" cy="3108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· Token-F1 · BERTScore</a:t>
            </a:r>
            <a:endParaRPr lang="en-US" sz="14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 · Yes/No accuracy</a:t>
            </a:r>
            <a:endParaRPr lang="en-US" sz="14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 · MRR (RAG only)</a:t>
            </a:r>
            <a:endParaRPr lang="en-US" sz="14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length / confidence calibration</a:t>
            </a:r>
            <a:endParaRPr lang="en-US" sz="14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split (PubMedQA / BioASQ / MedQA)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6565392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5C677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  <p:sp>
        <p:nvSpPr>
          <p:cNvPr id="24" name="下箭头 23"/>
          <p:cNvSpPr/>
          <p:nvPr userDrawn="1"/>
        </p:nvSpPr>
        <p:spPr>
          <a:xfrm>
            <a:off x="2839183" y="2880360"/>
            <a:ext cx="163195" cy="21526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27" name="下箭头 26"/>
          <p:cNvSpPr/>
          <p:nvPr userDrawn="1"/>
        </p:nvSpPr>
        <p:spPr>
          <a:xfrm>
            <a:off x="2839187" y="4340111"/>
            <a:ext cx="163195" cy="21526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TF-IDF + Rules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Retrieval Baseline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48640" cy="73152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sp>
        <p:nvSpPr>
          <p:cNvPr id="5" name="Text 3"/>
          <p:cNvSpPr/>
          <p:nvPr/>
        </p:nvSpPr>
        <p:spPr>
          <a:xfrm>
            <a:off x="640107" y="1325936"/>
            <a:ext cx="5943600" cy="4114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TfidfVectorizer (max_features=50,000, ngram_range=(1,2), sublinear_tf=True).</a:t>
            </a:r>
            <a:endParaRPr lang="en-US" sz="14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over the gold-context passages only; no separate index.</a:t>
            </a:r>
            <a:endParaRPr lang="en-US" sz="14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original question text; no UMLS expansion in the baseline.</a:t>
            </a:r>
            <a:endParaRPr lang="en-US" sz="14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top-1 sentence by cosine similarity to the query.</a:t>
            </a:r>
            <a:endParaRPr lang="en-US" sz="14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specialised yes/no head; the top-1 sentence is returned verbatim.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28" y="1783035"/>
            <a:ext cx="4754880" cy="371982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C8D3DA"/>
            </a:solidFill>
            <a:prstDash val="solid"/>
          </a:ln>
        </p:spPr>
        <p:txBody>
          <a:bodyPr/>
          <a:lstStyle/>
          <a:p/>
        </p:txBody>
      </p:sp>
      <p:sp>
        <p:nvSpPr>
          <p:cNvPr id="7" name="Text 5"/>
          <p:cNvSpPr/>
          <p:nvPr/>
        </p:nvSpPr>
        <p:spPr>
          <a:xfrm>
            <a:off x="7040880" y="1783080"/>
            <a:ext cx="43891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Results (combined dev set)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995160" y="2194560"/>
            <a:ext cx="4480560" cy="41148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/>
        </p:txBody>
      </p:sp>
      <p:sp>
        <p:nvSpPr>
          <p:cNvPr id="9" name="Text 7"/>
          <p:cNvSpPr/>
          <p:nvPr/>
        </p:nvSpPr>
        <p:spPr>
          <a:xfrm>
            <a:off x="7086600" y="2194560"/>
            <a:ext cx="1463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549640" y="2194560"/>
            <a:ext cx="9144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555480" y="2194560"/>
            <a:ext cx="19202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936" y="2797545"/>
            <a:ext cx="1463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503976" y="2797545"/>
            <a:ext cx="9144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509816" y="2797545"/>
            <a:ext cx="19202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extract ≠ short gold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040936" y="3209025"/>
            <a:ext cx="1463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Token-F1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03976" y="3209025"/>
            <a:ext cx="9144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816" y="3209025"/>
            <a:ext cx="19202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token overlap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040936" y="3620505"/>
            <a:ext cx="1463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BERTScore-F1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503976" y="3620505"/>
            <a:ext cx="9144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0.779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509816" y="3620505"/>
            <a:ext cx="19202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Topical but not exact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40936" y="4031985"/>
            <a:ext cx="14630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Yes/No Acc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76" y="4031985"/>
            <a:ext cx="9144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509816" y="4031985"/>
            <a:ext cx="19202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0/8 on PubMedQA; no yesno head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214" y="5049358"/>
            <a:ext cx="43891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Acts as the lower bound for downstream models.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6565392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5C677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9937" y="111502"/>
            <a:ext cx="6161227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1: PubMedBERT Fine-tuning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89956" y="669311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Extraction with Domain Pre-trained BERT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97678" y="1062496"/>
            <a:ext cx="7750307" cy="189592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Backbone: microsoft/BiomedNLP-PubMedBERT-base-uncased-abstract.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head: linear start / end logits; CLS index serves as fallback for unlocated spans.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L = 0.5 · (FocalLS(start) + FocalLS(end)), focal_gamma γ = 2.0, label_smoothing ε = 0.1.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3 epochs, AdamW lr = 2×10⁻⁵, warmup_ratio 0.06, max_len 512, stride 128, batch 16, fp16.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MCQ records (MedQA-USMLE) are filtered; ≈ 40 % of PubMedQA spans default to [CLS] via deterministic matching.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88171" y="601806"/>
            <a:ext cx="3423937" cy="2524520"/>
          </a:xfrm>
          <a:prstGeom prst="roundRect">
            <a:avLst>
              <a:gd name="adj" fmla="val 2222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/>
        </p:txBody>
      </p:sp>
      <p:sp>
        <p:nvSpPr>
          <p:cNvPr id="7" name="Text 5"/>
          <p:cNvSpPr/>
          <p:nvPr/>
        </p:nvSpPr>
        <p:spPr>
          <a:xfrm>
            <a:off x="8660197" y="899520"/>
            <a:ext cx="3680569" cy="1196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Performance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01856" y="1294696"/>
            <a:ext cx="1303129" cy="1196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152675" y="1282749"/>
            <a:ext cx="2126089" cy="1196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01893" y="1797398"/>
            <a:ext cx="1303129" cy="1196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0.387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0152659" y="1773460"/>
            <a:ext cx="2126105" cy="1196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Token-F1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801806" y="2300100"/>
            <a:ext cx="1303129" cy="1196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0.848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152659" y="2300100"/>
            <a:ext cx="2126089" cy="1196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BERTScore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801893" y="2802801"/>
            <a:ext cx="1303129" cy="1196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0.375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0152659" y="2802801"/>
            <a:ext cx="2126089" cy="1196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Yes/No Acc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6565392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5C677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  <p:sp>
        <p:nvSpPr>
          <p:cNvPr id="16" name="Text 0"/>
          <p:cNvSpPr/>
          <p:nvPr/>
        </p:nvSpPr>
        <p:spPr>
          <a:xfrm>
            <a:off x="609576" y="3030236"/>
            <a:ext cx="5407174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2: RAG 5-Stage Pipeline</a:t>
            </a:r>
            <a:endParaRPr lang="en-US" sz="3000" dirty="0"/>
          </a:p>
        </p:txBody>
      </p:sp>
      <p:sp>
        <p:nvSpPr>
          <p:cNvPr id="17" name="Text 1"/>
          <p:cNvSpPr/>
          <p:nvPr/>
        </p:nvSpPr>
        <p:spPr>
          <a:xfrm>
            <a:off x="589956" y="3520969"/>
            <a:ext cx="36237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Retrieval-Augmented Generation</a:t>
            </a:r>
            <a:endParaRPr lang="en-US" sz="1400" dirty="0"/>
          </a:p>
        </p:txBody>
      </p:sp>
      <p:sp>
        <p:nvSpPr>
          <p:cNvPr id="18" name="Shape 2"/>
          <p:cNvSpPr/>
          <p:nvPr/>
        </p:nvSpPr>
        <p:spPr>
          <a:xfrm>
            <a:off x="697678" y="3841022"/>
            <a:ext cx="548640" cy="73152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sp>
        <p:nvSpPr>
          <p:cNvPr id="19" name="Shape 2"/>
          <p:cNvSpPr/>
          <p:nvPr/>
        </p:nvSpPr>
        <p:spPr>
          <a:xfrm>
            <a:off x="697678" y="989365"/>
            <a:ext cx="548640" cy="73152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sp>
        <p:nvSpPr>
          <p:cNvPr id="20" name="Shape 3"/>
          <p:cNvSpPr/>
          <p:nvPr/>
        </p:nvSpPr>
        <p:spPr>
          <a:xfrm>
            <a:off x="697678" y="4008576"/>
            <a:ext cx="2121428" cy="794928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/>
        </p:txBody>
      </p:sp>
      <p:sp>
        <p:nvSpPr>
          <p:cNvPr id="21" name="Shape 4"/>
          <p:cNvSpPr/>
          <p:nvPr/>
        </p:nvSpPr>
        <p:spPr>
          <a:xfrm>
            <a:off x="697678" y="4008576"/>
            <a:ext cx="2121408" cy="2926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/>
        </p:txBody>
      </p:sp>
      <p:sp>
        <p:nvSpPr>
          <p:cNvPr id="22" name="Text 5"/>
          <p:cNvSpPr/>
          <p:nvPr/>
        </p:nvSpPr>
        <p:spPr>
          <a:xfrm>
            <a:off x="789118" y="4026864"/>
            <a:ext cx="1938528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Expand</a:t>
            </a:r>
            <a:endParaRPr lang="en-US" sz="1300" dirty="0"/>
          </a:p>
        </p:txBody>
      </p:sp>
      <p:sp>
        <p:nvSpPr>
          <p:cNvPr id="23" name="Text 6"/>
          <p:cNvSpPr/>
          <p:nvPr/>
        </p:nvSpPr>
        <p:spPr>
          <a:xfrm>
            <a:off x="789122" y="4319426"/>
            <a:ext cx="1687177" cy="50313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scispaCy NER +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UMLS canonical name</a:t>
            </a:r>
            <a:endParaRPr lang="en-US" sz="1100" dirty="0"/>
          </a:p>
        </p:txBody>
      </p:sp>
      <p:sp>
        <p:nvSpPr>
          <p:cNvPr id="24" name="Shape 7"/>
          <p:cNvSpPr/>
          <p:nvPr/>
        </p:nvSpPr>
        <p:spPr>
          <a:xfrm>
            <a:off x="2983678" y="4008576"/>
            <a:ext cx="2118433" cy="794881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5400">
            <a:solidFill>
              <a:srgbClr val="0F4C5C"/>
            </a:solidFill>
            <a:prstDash val="solid"/>
          </a:ln>
        </p:spPr>
        <p:txBody>
          <a:bodyPr/>
          <a:lstStyle/>
          <a:p/>
        </p:txBody>
      </p:sp>
      <p:sp>
        <p:nvSpPr>
          <p:cNvPr id="26" name="Shape 8"/>
          <p:cNvSpPr/>
          <p:nvPr/>
        </p:nvSpPr>
        <p:spPr>
          <a:xfrm>
            <a:off x="2983678" y="4008576"/>
            <a:ext cx="2118385" cy="292608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/>
        </p:txBody>
      </p:sp>
      <p:sp>
        <p:nvSpPr>
          <p:cNvPr id="27" name="Text 9"/>
          <p:cNvSpPr/>
          <p:nvPr/>
        </p:nvSpPr>
        <p:spPr>
          <a:xfrm>
            <a:off x="3075118" y="4026864"/>
            <a:ext cx="1225016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Retrieve</a:t>
            </a:r>
            <a:endParaRPr lang="en-US" sz="1300" dirty="0"/>
          </a:p>
        </p:txBody>
      </p:sp>
      <p:sp>
        <p:nvSpPr>
          <p:cNvPr id="28" name="Text 10"/>
          <p:cNvSpPr/>
          <p:nvPr/>
        </p:nvSpPr>
        <p:spPr>
          <a:xfrm>
            <a:off x="3075118" y="4374336"/>
            <a:ext cx="1847409" cy="42912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dense @ChromaDB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candidates</a:t>
            </a:r>
            <a:endParaRPr lang="en-US" sz="1100" dirty="0"/>
          </a:p>
        </p:txBody>
      </p:sp>
      <p:sp>
        <p:nvSpPr>
          <p:cNvPr id="29" name="Shape 11"/>
          <p:cNvSpPr/>
          <p:nvPr/>
        </p:nvSpPr>
        <p:spPr>
          <a:xfrm>
            <a:off x="5269678" y="4008576"/>
            <a:ext cx="2029936" cy="794881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54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sp>
        <p:nvSpPr>
          <p:cNvPr id="30" name="Shape 12"/>
          <p:cNvSpPr/>
          <p:nvPr/>
        </p:nvSpPr>
        <p:spPr>
          <a:xfrm>
            <a:off x="5269678" y="4008576"/>
            <a:ext cx="2029936" cy="292608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sp>
        <p:nvSpPr>
          <p:cNvPr id="31" name="Text 13"/>
          <p:cNvSpPr/>
          <p:nvPr/>
        </p:nvSpPr>
        <p:spPr>
          <a:xfrm>
            <a:off x="5361118" y="4026864"/>
            <a:ext cx="1555517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Rerank</a:t>
            </a:r>
            <a:endParaRPr lang="en-US" sz="1300" dirty="0"/>
          </a:p>
        </p:txBody>
      </p:sp>
      <p:sp>
        <p:nvSpPr>
          <p:cNvPr id="32" name="Text 14"/>
          <p:cNvSpPr/>
          <p:nvPr/>
        </p:nvSpPr>
        <p:spPr>
          <a:xfrm>
            <a:off x="5361118" y="4374336"/>
            <a:ext cx="1691858" cy="35951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BGE-reranker-v2-m3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→ Top-3</a:t>
            </a:r>
            <a:endParaRPr lang="en-US" sz="1100" dirty="0"/>
          </a:p>
        </p:txBody>
      </p:sp>
      <p:sp>
        <p:nvSpPr>
          <p:cNvPr id="33" name="Shape 15"/>
          <p:cNvSpPr/>
          <p:nvPr/>
        </p:nvSpPr>
        <p:spPr>
          <a:xfrm>
            <a:off x="7555678" y="4008576"/>
            <a:ext cx="1929903" cy="814031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5400">
            <a:solidFill>
              <a:srgbClr val="21295C"/>
            </a:solidFill>
            <a:prstDash val="solid"/>
          </a:ln>
        </p:spPr>
        <p:txBody>
          <a:bodyPr/>
          <a:lstStyle/>
          <a:p/>
        </p:txBody>
      </p:sp>
      <p:sp>
        <p:nvSpPr>
          <p:cNvPr id="34" name="Shape 16"/>
          <p:cNvSpPr/>
          <p:nvPr/>
        </p:nvSpPr>
        <p:spPr>
          <a:xfrm>
            <a:off x="7555678" y="4008576"/>
            <a:ext cx="1929851" cy="292608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/>
        </p:txBody>
      </p:sp>
      <p:sp>
        <p:nvSpPr>
          <p:cNvPr id="35" name="Text 17"/>
          <p:cNvSpPr/>
          <p:nvPr/>
        </p:nvSpPr>
        <p:spPr>
          <a:xfrm>
            <a:off x="7647118" y="4026864"/>
            <a:ext cx="1399919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Generate</a:t>
            </a:r>
            <a:endParaRPr lang="en-US" sz="1300" dirty="0"/>
          </a:p>
        </p:txBody>
      </p:sp>
      <p:sp>
        <p:nvSpPr>
          <p:cNvPr id="36" name="Text 18"/>
          <p:cNvSpPr/>
          <p:nvPr/>
        </p:nvSpPr>
        <p:spPr>
          <a:xfrm>
            <a:off x="7647118" y="4374336"/>
            <a:ext cx="1596106" cy="3594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Qwen2.5-14B-Instruct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 NF4 (9 GB VRAM)</a:t>
            </a:r>
            <a:endParaRPr lang="en-US" sz="1100" dirty="0"/>
          </a:p>
        </p:txBody>
      </p:sp>
      <p:sp>
        <p:nvSpPr>
          <p:cNvPr id="37" name="Shape 19"/>
          <p:cNvSpPr/>
          <p:nvPr/>
        </p:nvSpPr>
        <p:spPr>
          <a:xfrm>
            <a:off x="9841678" y="4008576"/>
            <a:ext cx="1920251" cy="814031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/>
        </p:txBody>
      </p:sp>
      <p:sp>
        <p:nvSpPr>
          <p:cNvPr id="38" name="Shape 20"/>
          <p:cNvSpPr/>
          <p:nvPr/>
        </p:nvSpPr>
        <p:spPr>
          <a:xfrm>
            <a:off x="9841678" y="4008576"/>
            <a:ext cx="1920251" cy="2926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/>
        </p:txBody>
      </p:sp>
      <p:sp>
        <p:nvSpPr>
          <p:cNvPr id="39" name="Text 21"/>
          <p:cNvSpPr/>
          <p:nvPr/>
        </p:nvSpPr>
        <p:spPr>
          <a:xfrm>
            <a:off x="9933118" y="4026864"/>
            <a:ext cx="1268259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Format</a:t>
            </a:r>
            <a:endParaRPr lang="en-US" sz="1300" dirty="0"/>
          </a:p>
        </p:txBody>
      </p:sp>
      <p:sp>
        <p:nvSpPr>
          <p:cNvPr id="40" name="Text 22"/>
          <p:cNvSpPr/>
          <p:nvPr/>
        </p:nvSpPr>
        <p:spPr>
          <a:xfrm>
            <a:off x="9933118" y="4374336"/>
            <a:ext cx="1828785" cy="3594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Answer-type-conditioned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(yesno / factoid / free)</a:t>
            </a:r>
            <a:endParaRPr lang="en-US" sz="1100" dirty="0"/>
          </a:p>
        </p:txBody>
      </p:sp>
      <p:sp>
        <p:nvSpPr>
          <p:cNvPr id="41" name="Text 23"/>
          <p:cNvSpPr/>
          <p:nvPr/>
        </p:nvSpPr>
        <p:spPr>
          <a:xfrm>
            <a:off x="697678" y="4822585"/>
            <a:ext cx="5486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 Stack</a:t>
            </a:r>
            <a:endParaRPr lang="en-US" sz="1400" dirty="0"/>
          </a:p>
        </p:txBody>
      </p:sp>
      <p:sp>
        <p:nvSpPr>
          <p:cNvPr id="42" name="Text 24"/>
          <p:cNvSpPr/>
          <p:nvPr/>
        </p:nvSpPr>
        <p:spPr>
          <a:xfrm>
            <a:off x="720649" y="4938900"/>
            <a:ext cx="10972800" cy="1855113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store: ChromaDB · cosine distance · sentence granularity · persisted at ./chroma_db.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Embedding: BGE-M3 (multilingual + long-doc support), 1024-dim.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Reranker: BGE-reranker-v2-m3 cross-encoder, rescoring the top-10 and keeping top-3.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Generator: Qwen2.5-14B-Instruct, bitsandbytes 4-bit NF4 (28 GB → 9 GB VRAM).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 3 templates (yesno / factoid / free) switched by `answer_type` in llm_qa.py.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0628" y="246069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3000" b="1" dirty="0">
                <a:solidFill>
                  <a:srgbClr val="0F4C5C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Key Improvements</a:t>
            </a:r>
            <a:endParaRPr lang="en-US" altLang="zh-CN" sz="3000" b="1" dirty="0">
              <a:solidFill>
                <a:srgbClr val="0F4C5C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2520" y="854965"/>
            <a:ext cx="5562772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1400" b="1" i="1" dirty="0">
                <a:solidFill>
                  <a:srgbClr val="000000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Extension 1: UMLS Query Expansion</a:t>
            </a:r>
            <a:endParaRPr lang="en-US" altLang="zh-CN" sz="1400" b="1" i="1" dirty="0">
              <a:solidFill>
                <a:srgbClr val="000000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511547" y="888769"/>
            <a:ext cx="548640" cy="647810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72522" y="626489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5C677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  <p:sp>
        <p:nvSpPr>
          <p:cNvPr id="1041" name="Text 1"/>
          <p:cNvSpPr/>
          <p:nvPr/>
        </p:nvSpPr>
        <p:spPr>
          <a:xfrm>
            <a:off x="712520" y="2549628"/>
            <a:ext cx="3408337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1400" b="1" i="1" dirty="0">
                <a:solidFill>
                  <a:srgbClr val="000000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Extension 2: Two-Stage Retrieval</a:t>
            </a:r>
            <a:endParaRPr lang="en-US" altLang="zh-CN" sz="1400" b="1" i="1" dirty="0">
              <a:solidFill>
                <a:srgbClr val="000000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</p:txBody>
      </p:sp>
      <p:sp>
        <p:nvSpPr>
          <p:cNvPr id="1043" name="Shape 3"/>
          <p:cNvSpPr/>
          <p:nvPr/>
        </p:nvSpPr>
        <p:spPr>
          <a:xfrm>
            <a:off x="712520" y="2977439"/>
            <a:ext cx="3108960" cy="804154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/>
        </p:txBody>
      </p:sp>
      <p:sp>
        <p:nvSpPr>
          <p:cNvPr id="1044" name="Text 4"/>
          <p:cNvSpPr/>
          <p:nvPr/>
        </p:nvSpPr>
        <p:spPr>
          <a:xfrm>
            <a:off x="849712" y="2977390"/>
            <a:ext cx="2834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Dense</a:t>
            </a:r>
            <a:endParaRPr lang="en-US" sz="1600" dirty="0"/>
          </a:p>
        </p:txBody>
      </p:sp>
      <p:sp>
        <p:nvSpPr>
          <p:cNvPr id="1045" name="Text 5"/>
          <p:cNvSpPr/>
          <p:nvPr/>
        </p:nvSpPr>
        <p:spPr>
          <a:xfrm>
            <a:off x="849712" y="3251260"/>
            <a:ext cx="2834672" cy="43994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candidates cosine similarity</a:t>
            </a:r>
            <a:r>
              <a:rPr lang="en-US" altLang="zh-CN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1A1A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altLang="zh-CN" sz="1200" b="1" dirty="0">
                <a:solidFill>
                  <a:srgbClr val="1C7293"/>
                </a:solidFill>
              </a:rPr>
              <a:t>+41% Recall</a:t>
            </a:r>
            <a:endParaRPr lang="en-US" altLang="zh-CN" sz="1200" b="1" dirty="0">
              <a:solidFill>
                <a:srgbClr val="1C7293"/>
              </a:solidFill>
            </a:endParaRPr>
          </a:p>
        </p:txBody>
      </p:sp>
      <p:sp>
        <p:nvSpPr>
          <p:cNvPr id="1046" name="Shape 6"/>
          <p:cNvSpPr/>
          <p:nvPr/>
        </p:nvSpPr>
        <p:spPr>
          <a:xfrm>
            <a:off x="4187240" y="2977439"/>
            <a:ext cx="3108960" cy="804154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sp>
        <p:nvSpPr>
          <p:cNvPr id="1047" name="Text 7"/>
          <p:cNvSpPr/>
          <p:nvPr/>
        </p:nvSpPr>
        <p:spPr>
          <a:xfrm>
            <a:off x="4324451" y="2977390"/>
            <a:ext cx="2834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Reranker</a:t>
            </a:r>
            <a:endParaRPr lang="en-US" sz="1600" dirty="0"/>
          </a:p>
        </p:txBody>
      </p:sp>
      <p:sp>
        <p:nvSpPr>
          <p:cNvPr id="1048" name="Text 8"/>
          <p:cNvSpPr/>
          <p:nvPr/>
        </p:nvSpPr>
        <p:spPr>
          <a:xfrm>
            <a:off x="4324451" y="3206062"/>
            <a:ext cx="2834640" cy="53034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BGE-reranker-v2-m3 cross-encoder scoring</a:t>
            </a:r>
            <a:r>
              <a:rPr lang="en-US" altLang="zh-CN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1A1A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altLang="zh-CN" sz="1200" b="1" dirty="0">
                <a:solidFill>
                  <a:srgbClr val="E36414"/>
                </a:solidFill>
              </a:rPr>
              <a:t>+64% MRR</a:t>
            </a:r>
            <a:endParaRPr lang="en-US" altLang="zh-CN" sz="1200" b="1" dirty="0">
              <a:solidFill>
                <a:srgbClr val="E36414"/>
              </a:solidFill>
            </a:endParaRPr>
          </a:p>
        </p:txBody>
      </p:sp>
      <p:sp>
        <p:nvSpPr>
          <p:cNvPr id="1049" name="Shape 9"/>
          <p:cNvSpPr/>
          <p:nvPr/>
        </p:nvSpPr>
        <p:spPr>
          <a:xfrm>
            <a:off x="7661960" y="2977439"/>
            <a:ext cx="4023360" cy="804154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0F4C5C"/>
            </a:solidFill>
            <a:prstDash val="solid"/>
          </a:ln>
        </p:spPr>
        <p:txBody>
          <a:bodyPr/>
          <a:lstStyle/>
          <a:p/>
        </p:txBody>
      </p:sp>
      <p:sp>
        <p:nvSpPr>
          <p:cNvPr id="1050" name="Text 10"/>
          <p:cNvSpPr/>
          <p:nvPr/>
        </p:nvSpPr>
        <p:spPr>
          <a:xfrm>
            <a:off x="7799084" y="2977390"/>
            <a:ext cx="37490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Top-3 paragraphs</a:t>
            </a:r>
            <a:endParaRPr lang="en-US" sz="1600" dirty="0"/>
          </a:p>
        </p:txBody>
      </p:sp>
      <p:sp>
        <p:nvSpPr>
          <p:cNvPr id="1051" name="Text 11"/>
          <p:cNvSpPr/>
          <p:nvPr/>
        </p:nvSpPr>
        <p:spPr>
          <a:xfrm>
            <a:off x="7799077" y="3343165"/>
            <a:ext cx="3749040" cy="393299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into Qwen2.5-14B generator</a:t>
            </a:r>
            <a:r>
              <a:rPr lang="en-US" altLang="zh-CN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b="1" dirty="0">
              <a:solidFill>
                <a:srgbClr val="00206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altLang="zh-CN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10 to 3</a:t>
            </a:r>
            <a:r>
              <a:rPr lang="en-US" altLang="zh-CN" sz="1200" b="1" dirty="0">
                <a:solidFill>
                  <a:srgbClr val="1C7293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Candidate convergence</a:t>
            </a:r>
            <a:endParaRPr lang="en-US" altLang="zh-CN" b="1">
              <a:solidFill>
                <a:srgbClr val="1C729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cxnSp>
        <p:nvCxnSpPr>
          <p:cNvPr id="1052" name="Shape 12"/>
          <p:cNvCxnSpPr/>
          <p:nvPr/>
        </p:nvCxnSpPr>
        <p:spPr>
          <a:xfrm>
            <a:off x="3821480" y="3379516"/>
            <a:ext cx="365760" cy="0"/>
          </a:xfrm>
          <a:prstGeom prst="line">
            <a:avLst/>
          </a:prstGeom>
          <a:solidFill>
            <a:srgbClr val="5C677D"/>
          </a:solidFill>
          <a:ln w="12700">
            <a:solidFill>
              <a:srgbClr val="5C677D"/>
            </a:solidFill>
            <a:prstDash val="solid"/>
          </a:ln>
        </p:spPr>
        <p:txBody>
          <a:bodyPr/>
          <a:lstStyle/>
          <a:p/>
        </p:txBody>
      </p:cxnSp>
      <p:cxnSp>
        <p:nvCxnSpPr>
          <p:cNvPr id="1053" name="Shape 13"/>
          <p:cNvCxnSpPr/>
          <p:nvPr/>
        </p:nvCxnSpPr>
        <p:spPr>
          <a:xfrm>
            <a:off x="7296200" y="3379516"/>
            <a:ext cx="365760" cy="0"/>
          </a:xfrm>
          <a:prstGeom prst="line">
            <a:avLst/>
          </a:prstGeom>
          <a:solidFill>
            <a:srgbClr val="5C677D"/>
          </a:solidFill>
          <a:ln w="12700">
            <a:solidFill>
              <a:srgbClr val="5C677D"/>
            </a:solidFill>
            <a:prstDash val="solid"/>
          </a:ln>
        </p:spPr>
        <p:txBody>
          <a:bodyPr/>
          <a:lstStyle/>
          <a:p/>
        </p:txBody>
      </p:cxnSp>
      <p:sp>
        <p:nvSpPr>
          <p:cNvPr id="1066" name="Text 26"/>
          <p:cNvSpPr/>
          <p:nvPr/>
        </p:nvSpPr>
        <p:spPr>
          <a:xfrm>
            <a:off x="712520" y="3889315"/>
            <a:ext cx="10972800" cy="5904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reranker computes cross-attention on the top-10, keeping latency around 3–4× the dense stage alone.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stage sharply reduces noise in the LLM input, indirectly mitigating hallucination.</a:t>
            </a:r>
            <a:endParaRPr lang="en-US" sz="1300" dirty="0"/>
          </a:p>
        </p:txBody>
      </p:sp>
      <p:sp>
        <p:nvSpPr>
          <p:cNvPr id="1079" name="文本框 1078"/>
          <p:cNvSpPr txBox="1"/>
          <p:nvPr userDrawn="1"/>
        </p:nvSpPr>
        <p:spPr>
          <a:xfrm>
            <a:off x="712520" y="1175005"/>
            <a:ext cx="7315200" cy="891540"/>
          </a:xfrm>
          <a:prstGeom prst="rect">
            <a:avLst/>
          </a:prstGeom>
        </p:spPr>
        <p:txBody>
          <a:bodyPr rtlCol="0" anchor="t">
            <a:spAutoFit/>
          </a:bodyPr>
          <a:p>
            <a:pPr marL="342900" indent="-342900" algn="l" defTabSz="0" rtl="0" eaLnBrk="1" latinLnBrk="0" hangingPunct="1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har char="■"/>
            </a:pPr>
            <a:r>
              <a:rPr lang="en-US" altLang="zh-CN" sz="1300" dirty="0">
                <a:solidFill>
                  <a:srgbClr val="1A1A2E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Use scispaCy NER </a:t>
            </a:r>
            <a:r>
              <a:rPr lang="zh-CN" alt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+ </a:t>
            </a:r>
            <a:r>
              <a:rPr lang="en-US" altLang="zh-CN" sz="1300" dirty="0">
                <a:solidFill>
                  <a:srgbClr val="1A1A2E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UMLS linker on the original query to obtain candidate CUIs.</a:t>
            </a:r>
            <a:endParaRPr lang="en-US" altLang="zh-CN" sz="1300" dirty="0">
              <a:solidFill>
                <a:srgbClr val="1A1A2E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  <a:p>
            <a:pPr marL="342900" indent="-342900" algn="l" defTabSz="0" rtl="0" eaLnBrk="1" latinLnBrk="0" hangingPunct="1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har char="■"/>
            </a:pPr>
            <a:r>
              <a:rPr lang="en-US" altLang="zh-CN" sz="1300" dirty="0">
                <a:solidFill>
                  <a:srgbClr val="1A1A2E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For each CUI take the preferred name </a:t>
            </a:r>
            <a:r>
              <a:rPr lang="zh-CN" alt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+ </a:t>
            </a:r>
            <a:r>
              <a:rPr lang="en-US" altLang="zh-CN" sz="1300" dirty="0">
                <a:solidFill>
                  <a:srgbClr val="1A1A2E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top</a:t>
            </a:r>
            <a:r>
              <a:rPr lang="zh-CN" alt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-</a:t>
            </a:r>
            <a:r>
              <a:rPr lang="en-US" altLang="zh-CN" sz="1300" dirty="0">
                <a:solidFill>
                  <a:srgbClr val="1A1A2E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3 most frequent synonyms.</a:t>
            </a:r>
            <a:endParaRPr lang="en-US" altLang="zh-CN" sz="1300" dirty="0">
              <a:solidFill>
                <a:srgbClr val="1A1A2E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  <a:p>
            <a:pPr marL="342900" indent="-342900" algn="l" defTabSz="0" rtl="0" eaLnBrk="1" latinLnBrk="0" hangingPunct="1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har char="■"/>
            </a:pPr>
            <a:r>
              <a:rPr lang="en-US" altLang="zh-CN" sz="1300" dirty="0">
                <a:solidFill>
                  <a:srgbClr val="1A1A2E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Concatenate as expanded query: original ⊕ "OR" ⊕ synonym set.</a:t>
            </a:r>
            <a:endParaRPr lang="en-US" altLang="zh-CN" sz="1300" dirty="0">
              <a:solidFill>
                <a:srgbClr val="1A1A2E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  <a:p>
            <a:pPr marL="342900" indent="-342900" algn="l" defTabSz="0" rtl="0" eaLnBrk="1" latinLnBrk="0" hangingPunct="1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har char="■"/>
            </a:pPr>
            <a:r>
              <a:rPr lang="en-US" altLang="zh-CN" sz="1300" dirty="0">
                <a:solidFill>
                  <a:srgbClr val="1A1A2E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Run an A/B comparison on BGE</a:t>
            </a:r>
            <a:r>
              <a:rPr lang="zh-CN" alt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-</a:t>
            </a:r>
            <a:r>
              <a:rPr lang="en-US" altLang="zh-CN" sz="1300" dirty="0">
                <a:solidFill>
                  <a:srgbClr val="1A1A2E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M3 recall (on/off).</a:t>
            </a:r>
            <a:endParaRPr lang="zh-CN" altLang="en-US" sz="1300" dirty="0">
              <a:solidFill>
                <a:srgbClr val="1A1A2E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</p:txBody>
      </p:sp>
      <p:sp>
        <p:nvSpPr>
          <p:cNvPr id="1080" name="Text 1"/>
          <p:cNvSpPr/>
          <p:nvPr/>
        </p:nvSpPr>
        <p:spPr>
          <a:xfrm>
            <a:off x="670628" y="4485948"/>
            <a:ext cx="4341926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5C677D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  <a:r>
              <a:rPr lang="en-US" altLang="zh-CN" sz="1400" b="1" i="1" dirty="0">
                <a:solidFill>
                  <a:srgbClr val="000000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Extension 3: Answer-Type Conditioned Prompting</a:t>
            </a:r>
            <a:endParaRPr lang="en-US" altLang="zh-CN" sz="1400" b="1" i="1" dirty="0">
              <a:solidFill>
                <a:srgbClr val="000000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</p:txBody>
      </p:sp>
      <p:sp>
        <p:nvSpPr>
          <p:cNvPr id="1085" name="Shape 17"/>
          <p:cNvSpPr/>
          <p:nvPr/>
        </p:nvSpPr>
        <p:spPr>
          <a:xfrm>
            <a:off x="7622035" y="4805948"/>
            <a:ext cx="4259537" cy="1602855"/>
          </a:xfrm>
          <a:prstGeom prst="roundRect">
            <a:avLst>
              <a:gd name="adj" fmla="val 24758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/>
        </p:txBody>
      </p:sp>
      <p:sp>
        <p:nvSpPr>
          <p:cNvPr id="1086" name="Text 18"/>
          <p:cNvSpPr/>
          <p:nvPr/>
        </p:nvSpPr>
        <p:spPr>
          <a:xfrm>
            <a:off x="7789588" y="4907309"/>
            <a:ext cx="710297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1600" dirty="0"/>
          </a:p>
        </p:txBody>
      </p:sp>
      <p:sp>
        <p:nvSpPr>
          <p:cNvPr id="1087" name="Text 19"/>
          <p:cNvSpPr/>
          <p:nvPr/>
        </p:nvSpPr>
        <p:spPr>
          <a:xfrm>
            <a:off x="7622035" y="5248116"/>
            <a:ext cx="4480560" cy="1016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 algn="l" defTabSz="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har char="■"/>
            </a:pPr>
            <a:r>
              <a:rPr lang="en-US" altLang="zh-CN" sz="1400" dirty="0">
                <a:solidFill>
                  <a:srgbClr val="FFFFFF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EM (PubMedQA): 0 → 0.25  </a:t>
            </a:r>
            <a:endParaRPr lang="en-US" altLang="zh-CN" sz="1400" dirty="0">
              <a:solidFill>
                <a:srgbClr val="FFFFFF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  <a:p>
            <a:pPr marL="342900" indent="-342900" algn="l" defTabSz="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har char="■"/>
            </a:pPr>
            <a:r>
              <a:rPr lang="en-US" altLang="zh-CN" sz="1400" dirty="0">
                <a:solidFill>
                  <a:srgbClr val="FFFFFF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Eliminates format mismatch in yes/no &amp; factoid QA  </a:t>
            </a:r>
            <a:endParaRPr lang="en-US" altLang="zh-CN" sz="1400" dirty="0">
              <a:solidFill>
                <a:srgbClr val="FFFFFF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  <a:p>
            <a:pPr marL="342900" indent="-342900" algn="l" defTabSz="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har char="■"/>
            </a:pPr>
            <a:r>
              <a:rPr lang="en-US" altLang="zh-CN" sz="1400" dirty="0">
                <a:solidFill>
                  <a:srgbClr val="FFFFFF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Improves alignment with dataset answer types</a:t>
            </a:r>
            <a:endParaRPr lang="en-US" altLang="zh-CN" sz="1400" dirty="0">
              <a:solidFill>
                <a:srgbClr val="FFFFFF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</p:txBody>
      </p:sp>
      <p:sp>
        <p:nvSpPr>
          <p:cNvPr id="1088" name="Shape 3"/>
          <p:cNvSpPr/>
          <p:nvPr/>
        </p:nvSpPr>
        <p:spPr>
          <a:xfrm>
            <a:off x="672543" y="4867110"/>
            <a:ext cx="6793295" cy="1809307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C8D3DA"/>
            </a:solidFill>
            <a:prstDash val="solid"/>
          </a:ln>
        </p:spPr>
        <p:txBody>
          <a:bodyPr/>
          <a:lstStyle/>
          <a:p/>
        </p:txBody>
      </p:sp>
      <p:sp>
        <p:nvSpPr>
          <p:cNvPr id="1089" name="Text 4"/>
          <p:cNvSpPr/>
          <p:nvPr/>
        </p:nvSpPr>
        <p:spPr>
          <a:xfrm>
            <a:off x="730593" y="486711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accent3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 Differences</a:t>
            </a:r>
            <a:endParaRPr lang="en-US" sz="16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90" name="Text 6"/>
          <p:cNvSpPr/>
          <p:nvPr/>
        </p:nvSpPr>
        <p:spPr>
          <a:xfrm>
            <a:off x="730539" y="5158377"/>
            <a:ext cx="837304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Yes/No</a:t>
            </a:r>
            <a:endParaRPr lang="en-US" sz="1400" dirty="0"/>
          </a:p>
        </p:txBody>
      </p:sp>
      <p:sp>
        <p:nvSpPr>
          <p:cNvPr id="1091" name="Text 7"/>
          <p:cNvSpPr/>
          <p:nvPr/>
        </p:nvSpPr>
        <p:spPr>
          <a:xfrm>
            <a:off x="1448684" y="5158377"/>
            <a:ext cx="4960729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"Restrict output to {yes, no, maybe}; max_new_tokens = 4."</a:t>
            </a:r>
            <a:endParaRPr lang="en-US" sz="1100" dirty="0"/>
          </a:p>
        </p:txBody>
      </p:sp>
      <p:sp>
        <p:nvSpPr>
          <p:cNvPr id="1092" name="Text 9"/>
          <p:cNvSpPr/>
          <p:nvPr/>
        </p:nvSpPr>
        <p:spPr>
          <a:xfrm>
            <a:off x="704288" y="5487644"/>
            <a:ext cx="801396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Factoid</a:t>
            </a:r>
            <a:endParaRPr lang="en-US" sz="1400" dirty="0"/>
          </a:p>
        </p:txBody>
      </p:sp>
      <p:sp>
        <p:nvSpPr>
          <p:cNvPr id="1093" name="Text 10"/>
          <p:cNvSpPr/>
          <p:nvPr/>
        </p:nvSpPr>
        <p:spPr>
          <a:xfrm>
            <a:off x="1472666" y="5524153"/>
            <a:ext cx="5704033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"Extract a 1–8-word noun phrase from the context; max_new_tokens = 32."</a:t>
            </a:r>
            <a:endParaRPr lang="en-US" sz="1100" dirty="0"/>
          </a:p>
        </p:txBody>
      </p:sp>
      <p:sp>
        <p:nvSpPr>
          <p:cNvPr id="1094" name="Text 12"/>
          <p:cNvSpPr/>
          <p:nvPr/>
        </p:nvSpPr>
        <p:spPr>
          <a:xfrm>
            <a:off x="730593" y="5853404"/>
            <a:ext cx="597922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400" dirty="0"/>
          </a:p>
        </p:txBody>
      </p:sp>
      <p:sp>
        <p:nvSpPr>
          <p:cNvPr id="1095" name="Text 13"/>
          <p:cNvSpPr/>
          <p:nvPr/>
        </p:nvSpPr>
        <p:spPr>
          <a:xfrm>
            <a:off x="1448738" y="5853421"/>
            <a:ext cx="5930225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"Generate a concise answer (≤ 2 sentences); default max_new_tokens."</a:t>
            </a:r>
            <a:endParaRPr lang="en-US" sz="1100" dirty="0"/>
          </a:p>
        </p:txBody>
      </p:sp>
      <p:sp>
        <p:nvSpPr>
          <p:cNvPr id="1096" name="Text 15"/>
          <p:cNvSpPr/>
          <p:nvPr/>
        </p:nvSpPr>
        <p:spPr>
          <a:xfrm>
            <a:off x="642261" y="6264901"/>
            <a:ext cx="92557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</a:t>
            </a:r>
            <a:endParaRPr lang="en-US" sz="1400" b="1" dirty="0">
              <a:solidFill>
                <a:srgbClr val="21295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logic</a:t>
            </a:r>
            <a:endParaRPr lang="en-US" sz="1400" dirty="0"/>
          </a:p>
        </p:txBody>
      </p:sp>
      <p:sp>
        <p:nvSpPr>
          <p:cNvPr id="1097" name="Text 16"/>
          <p:cNvSpPr/>
          <p:nvPr/>
        </p:nvSpPr>
        <p:spPr>
          <a:xfrm>
            <a:off x="1505711" y="6264901"/>
            <a:ext cx="5856007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The template is switched per-record by `answer_type` in `llm_qa.py` (yesno / factoid / free).</a:t>
            </a:r>
            <a:endParaRPr lang="en-US" sz="1100" dirty="0"/>
          </a:p>
        </p:txBody>
      </p:sp>
      <p:sp>
        <p:nvSpPr>
          <p:cNvPr id="1103" name="Shape 17"/>
          <p:cNvSpPr/>
          <p:nvPr/>
        </p:nvSpPr>
        <p:spPr>
          <a:xfrm>
            <a:off x="6583716" y="568735"/>
            <a:ext cx="5408352" cy="2177513"/>
          </a:xfrm>
          <a:prstGeom prst="roundRect">
            <a:avLst>
              <a:gd name="adj" fmla="val 24758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/>
        </p:txBody>
      </p:sp>
      <p:sp>
        <p:nvSpPr>
          <p:cNvPr id="1104" name="Text 18"/>
          <p:cNvSpPr/>
          <p:nvPr/>
        </p:nvSpPr>
        <p:spPr>
          <a:xfrm>
            <a:off x="6805320" y="672011"/>
            <a:ext cx="2510522" cy="402343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1600" dirty="0">
                <a:solidFill>
                  <a:srgbClr val="FB8B24"/>
                </a:solidFill>
              </a:rPr>
              <a:t>Finding: Negative Result</a:t>
            </a:r>
            <a:endParaRPr lang="en-US" altLang="zh-CN" sz="1600" dirty="0">
              <a:solidFill>
                <a:srgbClr val="FB8B24"/>
              </a:solidFill>
            </a:endParaRPr>
          </a:p>
        </p:txBody>
      </p:sp>
      <p:sp>
        <p:nvSpPr>
          <p:cNvPr id="1105" name="Text 19"/>
          <p:cNvSpPr/>
          <p:nvPr/>
        </p:nvSpPr>
        <p:spPr>
          <a:xfrm>
            <a:off x="6736322" y="1010903"/>
            <a:ext cx="5255748" cy="159140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indent="0" algn="l" defTabSz="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zh-CN" sz="1400" b="1" dirty="0">
                <a:solidFill>
                  <a:srgbClr val="FFFFFF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MRR (rerank@5): 0.137 → 0.136 </a:t>
            </a:r>
            <a:r>
              <a:rPr lang="en-US" altLang="zh-CN" sz="1400" dirty="0">
                <a:solidFill>
                  <a:srgbClr val="FFFFFF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         </a:t>
            </a:r>
            <a:endParaRPr lang="en-US" altLang="zh-CN" sz="1400" dirty="0">
              <a:solidFill>
                <a:srgbClr val="FFFFFF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  <a:p>
            <a:pPr indent="0" algn="l" defTabSz="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zh-CN" sz="1400" dirty="0">
                <a:solidFill>
                  <a:srgbClr val="FFFFFF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Why:</a:t>
            </a:r>
            <a:endParaRPr lang="en-US" altLang="zh-CN" sz="1400" dirty="0">
              <a:solidFill>
                <a:srgbClr val="FFFFFF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  <a:p>
            <a:pPr marL="342900" indent="-342900" algn="l" defTabSz="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har char="■"/>
            </a:pPr>
            <a:r>
              <a:rPr lang="en-US" altLang="zh-CN" sz="1400" dirty="0">
                <a:solidFill>
                  <a:srgbClr val="FFFFFF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UMLS synonyms dilute the query embedding in BGE-M3;</a:t>
            </a:r>
            <a:endParaRPr lang="en-US" altLang="zh-CN" sz="1400" dirty="0">
              <a:solidFill>
                <a:srgbClr val="FFFFFF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  <a:p>
            <a:pPr marL="342900" indent="-342900" algn="l" defTabSz="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har char="■"/>
            </a:pPr>
            <a:r>
              <a:rPr lang="en-US" altLang="zh-CN" sz="1400" dirty="0">
                <a:solidFill>
                  <a:srgbClr val="FFFFFF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BGE-M3 already captures much medical vocabulary;</a:t>
            </a:r>
            <a:endParaRPr lang="en-US" altLang="zh-CN" sz="1400" dirty="0">
              <a:solidFill>
                <a:srgbClr val="FFFFFF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  <a:p>
            <a:pPr marL="342900" indent="-342900" algn="l" defTabSz="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har char="■"/>
            </a:pPr>
            <a:r>
              <a:rPr lang="en-US" altLang="zh-CN" sz="1400" dirty="0">
                <a:solidFill>
                  <a:srgbClr val="FFFFFF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 Kept in code behind a flag; conditional triggering on entity confidence is future work.</a:t>
            </a:r>
            <a:endParaRPr lang="en-US" altLang="zh-CN" sz="1400" dirty="0">
              <a:solidFill>
                <a:srgbClr val="FFFFFF"/>
              </a:solidFill>
              <a:latin typeface="Calibri" pitchFamily="34" charset="0"/>
              <a:ea typeface="Calibri" pitchFamily="34" charset="0"/>
              <a:cs typeface="Calibri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Results · 4 Metrics × 4 Backends · n = 200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48640" cy="73152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Image 0" descr="/sessions/ecstatic-laughing-fermi/mnt/comp6713-medqa/reports/figures/eval_per_metri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949440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63840" y="1554480"/>
            <a:ext cx="3749040" cy="429768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C8D3D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8046720" y="1645920"/>
            <a:ext cx="33832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Take-aways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46720" y="2057400"/>
            <a:ext cx="3383280" cy="3657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PubMedBERT</a:t>
            </a: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still leads on EM/F1 — extractive answers align tightly with gold spans.
</a:t>
            </a:r>
            <a:r>
              <a:rPr lang="en-US" sz="12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(full)</a:t>
            </a: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lower EM (0.115) but BERTScore reflects strong semantic similarity.
</a:t>
            </a: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gold ctx</a:t>
            </a: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reaches F1=0.410 / BERTScore=0.886, proving the bottleneck is retrieval.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6565392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5C677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Analysis &amp; Retrieval Bottleneck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Breakdown · Retrieval is the Bottleneck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48640" cy="73152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pic>
        <p:nvPicPr>
          <p:cNvPr id="5" name="Image 0" descr="/sessions/ecstatic-laughing-fermi/mnt/comp6713-medqa/reports/figures/bert_by_sourc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5486400" cy="2926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526280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BERTScore-F1 by data source</a:t>
            </a:r>
            <a:endParaRPr lang="en-US" sz="1100" dirty="0"/>
          </a:p>
        </p:txBody>
      </p:sp>
      <p:pic>
        <p:nvPicPr>
          <p:cNvPr id="7" name="Image 1" descr="/sessions/ecstatic-laughing-fermi/mnt/comp6713-medqa/reports/figures/rag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54480"/>
            <a:ext cx="5303520" cy="29260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09360" y="4526280"/>
            <a:ext cx="53035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vs. Rerank Recall@K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40080" y="4937760"/>
            <a:ext cx="1097280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PubMedQA shows the smallest gap; BioASQ and MedQA reveal RAG's advantage more clearly.</a:t>
            </a:r>
            <a:endParaRPr lang="en-US" sz="13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 = 0.155; Recall@3 = Recall@5 = Recall@10 = 0.210 — the dense retriever plateaus quickly and caps downstream F1.</a:t>
            </a:r>
            <a:endParaRPr lang="en-US" sz="13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the reranker boosts Recall@1 by 41% and MRR by 64%.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6565392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5C677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134" y="229953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Component Ablation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107" y="870086"/>
            <a:ext cx="7592864" cy="344251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Text 4"/>
          <p:cNvSpPr/>
          <p:nvPr/>
        </p:nvSpPr>
        <p:spPr>
          <a:xfrm>
            <a:off x="777267" y="870086"/>
            <a:ext cx="25636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94787" y="870086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83507" y="870086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BERT-F1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172227" y="870086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60947" y="870086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1290537"/>
            <a:ext cx="25636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single-stage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94760" y="1290537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83480" y="1290537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0.818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72200" y="1290537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60920" y="1290537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175" y="1710987"/>
            <a:ext cx="7592864" cy="344251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lstStyle/>
          <a:p/>
        </p:txBody>
      </p:sp>
      <p:sp>
        <p:nvSpPr>
          <p:cNvPr id="17" name="Text 15"/>
          <p:cNvSpPr/>
          <p:nvPr/>
        </p:nvSpPr>
        <p:spPr>
          <a:xfrm>
            <a:off x="777335" y="1710987"/>
            <a:ext cx="25636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Reranker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94855" y="1710987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83575" y="1710987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72295" y="1710987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361015" y="1710987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" y="2131438"/>
            <a:ext cx="25636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Answer-type prompt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94760" y="2131438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83480" y="2131438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72200" y="2131438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60920" y="2131438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0.178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175" y="2594240"/>
            <a:ext cx="7592864" cy="344251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lstStyle/>
          <a:p/>
        </p:txBody>
      </p:sp>
      <p:sp>
        <p:nvSpPr>
          <p:cNvPr id="28" name="Text 26"/>
          <p:cNvSpPr/>
          <p:nvPr/>
        </p:nvSpPr>
        <p:spPr>
          <a:xfrm>
            <a:off x="777341" y="2551889"/>
            <a:ext cx="25636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Gold context (ceiling)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794861" y="2551920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983581" y="2551920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72301" y="2551920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61021" y="2551920"/>
            <a:ext cx="734864" cy="34425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686773" y="801396"/>
            <a:ext cx="2926080" cy="2137066"/>
          </a:xfrm>
          <a:prstGeom prst="roundRect">
            <a:avLst>
              <a:gd name="adj" fmla="val 2500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/>
        </p:txBody>
      </p:sp>
      <p:sp>
        <p:nvSpPr>
          <p:cNvPr id="34" name="Text 32"/>
          <p:cNvSpPr/>
          <p:nvPr/>
        </p:nvSpPr>
        <p:spPr>
          <a:xfrm>
            <a:off x="8869707" y="1007246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869707" y="1418726"/>
            <a:ext cx="2560320" cy="147744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Reranker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single biggest win.
</a:t>
            </a:r>
            <a:r>
              <a:rPr lang="en-US" sz="12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lifts BERTScore but cannot fix Recall.
</a:t>
            </a:r>
            <a:r>
              <a:rPr lang="en-US" sz="12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ctx → F1=0.41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confirms retrieval is the ceiling.</a:t>
            </a:r>
            <a:endParaRPr lang="en-US" sz="12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6565392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5C677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  <p:sp>
        <p:nvSpPr>
          <p:cNvPr id="38" name="Text 0"/>
          <p:cNvSpPr/>
          <p:nvPr/>
        </p:nvSpPr>
        <p:spPr>
          <a:xfrm>
            <a:off x="640175" y="2794159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Error Analysis (TF-IDF baseline, n = 197 errors)</a:t>
            </a:r>
            <a:endParaRPr lang="en-US" sz="2000" dirty="0"/>
          </a:p>
        </p:txBody>
      </p:sp>
      <p:sp>
        <p:nvSpPr>
          <p:cNvPr id="39" name="Shape 3"/>
          <p:cNvSpPr/>
          <p:nvPr/>
        </p:nvSpPr>
        <p:spPr>
          <a:xfrm>
            <a:off x="502941" y="3388479"/>
            <a:ext cx="2212848" cy="1381631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54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sp>
        <p:nvSpPr>
          <p:cNvPr id="40" name="Shape 4"/>
          <p:cNvSpPr/>
          <p:nvPr/>
        </p:nvSpPr>
        <p:spPr>
          <a:xfrm>
            <a:off x="502941" y="3388479"/>
            <a:ext cx="2212848" cy="411480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/>
        </p:txBody>
      </p:sp>
      <p:sp>
        <p:nvSpPr>
          <p:cNvPr id="41" name="Text 5"/>
          <p:cNvSpPr/>
          <p:nvPr/>
        </p:nvSpPr>
        <p:spPr>
          <a:xfrm>
            <a:off x="594381" y="3434199"/>
            <a:ext cx="2029968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WRONG_RETRIEVAL</a:t>
            </a:r>
            <a:endParaRPr lang="en-US" sz="1100" dirty="0"/>
          </a:p>
        </p:txBody>
      </p:sp>
      <p:sp>
        <p:nvSpPr>
          <p:cNvPr id="42" name="Text 6"/>
          <p:cNvSpPr/>
          <p:nvPr/>
        </p:nvSpPr>
        <p:spPr>
          <a:xfrm>
            <a:off x="594381" y="3891399"/>
            <a:ext cx="1694834" cy="26353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3.5%</a:t>
            </a:r>
            <a:endParaRPr lang="en-US" sz="2600" dirty="0"/>
          </a:p>
        </p:txBody>
      </p:sp>
      <p:sp>
        <p:nvSpPr>
          <p:cNvPr id="43" name="Text 7"/>
          <p:cNvSpPr/>
          <p:nvPr/>
        </p:nvSpPr>
        <p:spPr>
          <a:xfrm>
            <a:off x="594385" y="4015403"/>
            <a:ext cx="2029968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answer tokens absent from the retrieved context (&lt; 20 % overlap).</a:t>
            </a:r>
            <a:endParaRPr lang="en-US" sz="1000" dirty="0"/>
          </a:p>
        </p:txBody>
      </p:sp>
      <p:sp>
        <p:nvSpPr>
          <p:cNvPr id="44" name="Shape 8"/>
          <p:cNvSpPr/>
          <p:nvPr/>
        </p:nvSpPr>
        <p:spPr>
          <a:xfrm>
            <a:off x="2834661" y="3388479"/>
            <a:ext cx="2212848" cy="1381681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5400">
            <a:solidFill>
              <a:srgbClr val="0F4C5C"/>
            </a:solidFill>
            <a:prstDash val="solid"/>
          </a:ln>
        </p:spPr>
        <p:txBody>
          <a:bodyPr/>
          <a:lstStyle/>
          <a:p/>
        </p:txBody>
      </p:sp>
      <p:sp>
        <p:nvSpPr>
          <p:cNvPr id="45" name="Shape 9"/>
          <p:cNvSpPr/>
          <p:nvPr/>
        </p:nvSpPr>
        <p:spPr>
          <a:xfrm>
            <a:off x="2834661" y="3388479"/>
            <a:ext cx="2212848" cy="41148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/>
        </p:txBody>
      </p:sp>
      <p:sp>
        <p:nvSpPr>
          <p:cNvPr id="46" name="Text 10"/>
          <p:cNvSpPr/>
          <p:nvPr/>
        </p:nvSpPr>
        <p:spPr>
          <a:xfrm>
            <a:off x="2926101" y="3434199"/>
            <a:ext cx="2029968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100" dirty="0"/>
          </a:p>
        </p:txBody>
      </p:sp>
      <p:sp>
        <p:nvSpPr>
          <p:cNvPr id="47" name="Text 11"/>
          <p:cNvSpPr/>
          <p:nvPr/>
        </p:nvSpPr>
        <p:spPr>
          <a:xfrm>
            <a:off x="2926083" y="3799946"/>
            <a:ext cx="1941071" cy="355003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2600" dirty="0"/>
          </a:p>
        </p:txBody>
      </p:sp>
      <p:sp>
        <p:nvSpPr>
          <p:cNvPr id="48" name="Text 12"/>
          <p:cNvSpPr/>
          <p:nvPr/>
        </p:nvSpPr>
        <p:spPr>
          <a:xfrm>
            <a:off x="2926083" y="4154949"/>
            <a:ext cx="2029968" cy="523733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prediction with near-zero overlap to gold — baseline returns full MCQ option list.</a:t>
            </a:r>
            <a:endParaRPr lang="en-US" sz="1000" dirty="0"/>
          </a:p>
        </p:txBody>
      </p:sp>
      <p:sp>
        <p:nvSpPr>
          <p:cNvPr id="49" name="Shape 13"/>
          <p:cNvSpPr/>
          <p:nvPr/>
        </p:nvSpPr>
        <p:spPr>
          <a:xfrm>
            <a:off x="5166381" y="3388479"/>
            <a:ext cx="2212848" cy="1381681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/>
        </p:txBody>
      </p:sp>
      <p:sp>
        <p:nvSpPr>
          <p:cNvPr id="50" name="Shape 14"/>
          <p:cNvSpPr/>
          <p:nvPr/>
        </p:nvSpPr>
        <p:spPr>
          <a:xfrm>
            <a:off x="5166381" y="3388479"/>
            <a:ext cx="2212848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/>
        </p:txBody>
      </p:sp>
      <p:sp>
        <p:nvSpPr>
          <p:cNvPr id="51" name="Text 15"/>
          <p:cNvSpPr/>
          <p:nvPr/>
        </p:nvSpPr>
        <p:spPr>
          <a:xfrm>
            <a:off x="5257821" y="3434199"/>
            <a:ext cx="2029968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PARTIAL_ANSWER</a:t>
            </a:r>
            <a:endParaRPr lang="en-US" sz="1100" dirty="0"/>
          </a:p>
        </p:txBody>
      </p:sp>
      <p:sp>
        <p:nvSpPr>
          <p:cNvPr id="52" name="Text 16"/>
          <p:cNvSpPr/>
          <p:nvPr/>
        </p:nvSpPr>
        <p:spPr>
          <a:xfrm>
            <a:off x="5257821" y="3891399"/>
            <a:ext cx="1419545" cy="2635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2600" dirty="0"/>
          </a:p>
        </p:txBody>
      </p:sp>
      <p:sp>
        <p:nvSpPr>
          <p:cNvPr id="53" name="Text 17"/>
          <p:cNvSpPr/>
          <p:nvPr/>
        </p:nvSpPr>
        <p:spPr>
          <a:xfrm>
            <a:off x="5257781" y="4227714"/>
            <a:ext cx="2029968" cy="39834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between 0 and 0.5 with partial overlap against gold.</a:t>
            </a:r>
            <a:endParaRPr lang="en-US" sz="1000" dirty="0"/>
          </a:p>
        </p:txBody>
      </p:sp>
      <p:sp>
        <p:nvSpPr>
          <p:cNvPr id="54" name="Shape 18"/>
          <p:cNvSpPr/>
          <p:nvPr/>
        </p:nvSpPr>
        <p:spPr>
          <a:xfrm>
            <a:off x="7498101" y="3388479"/>
            <a:ext cx="2212848" cy="1381681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5400">
            <a:solidFill>
              <a:srgbClr val="21295C"/>
            </a:solidFill>
            <a:prstDash val="solid"/>
          </a:ln>
        </p:spPr>
        <p:txBody>
          <a:bodyPr/>
          <a:lstStyle/>
          <a:p/>
        </p:txBody>
      </p:sp>
      <p:sp>
        <p:nvSpPr>
          <p:cNvPr id="55" name="Shape 19"/>
          <p:cNvSpPr/>
          <p:nvPr/>
        </p:nvSpPr>
        <p:spPr>
          <a:xfrm>
            <a:off x="7498101" y="3388479"/>
            <a:ext cx="2212848" cy="41148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/>
        </p:txBody>
      </p:sp>
      <p:sp>
        <p:nvSpPr>
          <p:cNvPr id="56" name="Text 20"/>
          <p:cNvSpPr/>
          <p:nvPr/>
        </p:nvSpPr>
        <p:spPr>
          <a:xfrm>
            <a:off x="7589541" y="3434199"/>
            <a:ext cx="2029968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TERMINOLOGY_MISMATCH</a:t>
            </a:r>
            <a:endParaRPr lang="en-US" sz="1100" dirty="0"/>
          </a:p>
        </p:txBody>
      </p:sp>
      <p:sp>
        <p:nvSpPr>
          <p:cNvPr id="57" name="Text 21"/>
          <p:cNvSpPr/>
          <p:nvPr/>
        </p:nvSpPr>
        <p:spPr>
          <a:xfrm>
            <a:off x="7589541" y="3891399"/>
            <a:ext cx="1611050" cy="2635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2600" dirty="0"/>
          </a:p>
        </p:txBody>
      </p:sp>
      <p:sp>
        <p:nvSpPr>
          <p:cNvPr id="58" name="Text 22"/>
          <p:cNvSpPr/>
          <p:nvPr/>
        </p:nvSpPr>
        <p:spPr>
          <a:xfrm>
            <a:off x="7589599" y="4227721"/>
            <a:ext cx="2029968" cy="39833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prediction (≤ 5 tokens) with zero token-F1 — synonym / abbreviation mismatch.</a:t>
            </a:r>
            <a:endParaRPr lang="en-US" sz="1000" dirty="0"/>
          </a:p>
        </p:txBody>
      </p:sp>
      <p:sp>
        <p:nvSpPr>
          <p:cNvPr id="59" name="Shape 23"/>
          <p:cNvSpPr/>
          <p:nvPr/>
        </p:nvSpPr>
        <p:spPr>
          <a:xfrm>
            <a:off x="9829821" y="3388479"/>
            <a:ext cx="2212848" cy="1381681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5400">
            <a:solidFill>
              <a:srgbClr val="FB8B24"/>
            </a:solidFill>
            <a:prstDash val="solid"/>
          </a:ln>
        </p:spPr>
        <p:txBody>
          <a:bodyPr/>
          <a:lstStyle/>
          <a:p/>
        </p:txBody>
      </p:sp>
      <p:sp>
        <p:nvSpPr>
          <p:cNvPr id="60" name="Shape 24"/>
          <p:cNvSpPr/>
          <p:nvPr/>
        </p:nvSpPr>
        <p:spPr>
          <a:xfrm>
            <a:off x="9829821" y="3388479"/>
            <a:ext cx="2212848" cy="411480"/>
          </a:xfrm>
          <a:prstGeom prst="rect">
            <a:avLst/>
          </a:prstGeom>
          <a:solidFill>
            <a:srgbClr val="FB8B24"/>
          </a:solidFill>
          <a:ln w="12700">
            <a:solidFill>
              <a:srgbClr val="FB8B24"/>
            </a:solidFill>
            <a:prstDash val="solid"/>
          </a:ln>
        </p:spPr>
        <p:txBody>
          <a:bodyPr/>
          <a:lstStyle/>
          <a:p/>
        </p:txBody>
      </p:sp>
      <p:sp>
        <p:nvSpPr>
          <p:cNvPr id="61" name="Text 25"/>
          <p:cNvSpPr/>
          <p:nvPr/>
        </p:nvSpPr>
        <p:spPr>
          <a:xfrm>
            <a:off x="9921261" y="3434199"/>
            <a:ext cx="2029968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100" dirty="0"/>
          </a:p>
        </p:txBody>
      </p:sp>
      <p:sp>
        <p:nvSpPr>
          <p:cNvPr id="62" name="Text 26"/>
          <p:cNvSpPr/>
          <p:nvPr/>
        </p:nvSpPr>
        <p:spPr>
          <a:xfrm>
            <a:off x="9921261" y="3891399"/>
            <a:ext cx="1691627" cy="2635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2600" dirty="0"/>
          </a:p>
        </p:txBody>
      </p:sp>
      <p:sp>
        <p:nvSpPr>
          <p:cNvPr id="63" name="Text 27"/>
          <p:cNvSpPr/>
          <p:nvPr/>
        </p:nvSpPr>
        <p:spPr>
          <a:xfrm>
            <a:off x="9921296" y="4154949"/>
            <a:ext cx="2029968" cy="471103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failures not matching the four categories above.</a:t>
            </a:r>
            <a:endParaRPr lang="en-US" sz="1000" dirty="0"/>
          </a:p>
        </p:txBody>
      </p:sp>
      <p:sp>
        <p:nvSpPr>
          <p:cNvPr id="64" name="Shape 28"/>
          <p:cNvSpPr/>
          <p:nvPr/>
        </p:nvSpPr>
        <p:spPr>
          <a:xfrm>
            <a:off x="502941" y="4910042"/>
            <a:ext cx="10972800" cy="1739134"/>
          </a:xfrm>
          <a:prstGeom prst="roundRect">
            <a:avLst>
              <a:gd name="adj" fmla="val 3478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/>
        </p:txBody>
      </p:sp>
      <p:sp>
        <p:nvSpPr>
          <p:cNvPr id="65" name="Text 29"/>
          <p:cNvSpPr/>
          <p:nvPr/>
        </p:nvSpPr>
        <p:spPr>
          <a:xfrm>
            <a:off x="685821" y="5001482"/>
            <a:ext cx="106070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Items</a:t>
            </a:r>
            <a:endParaRPr lang="en-US" sz="1500" dirty="0"/>
          </a:p>
        </p:txBody>
      </p:sp>
      <p:sp>
        <p:nvSpPr>
          <p:cNvPr id="66" name="Text 30"/>
          <p:cNvSpPr/>
          <p:nvPr/>
        </p:nvSpPr>
        <p:spPr>
          <a:xfrm>
            <a:off x="685821" y="5321522"/>
            <a:ext cx="10607040" cy="1165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dominates TF-IDF (52 %): the baseline emits full option strings instead of the short gold answer.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PubMedBERT's error profile is different: TERMINOLOGY_MISMATCH covers 84 % (e.g. cholecalciferol vs. 1,25-dihydroxycholecalciferol).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WRONG_RETRIEVAL is the smallest category in the heuristic because context is always the gold passage in run_eval.py.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data/processed/baseline_errors.json and bert_errors.json.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3611811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Future Work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48640" cy="73152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4864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164592" cy="12801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960120" y="1691640"/>
            <a:ext cx="5029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right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2103120"/>
            <a:ext cx="50292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3-way comparison, unified evaluation, error typology, reproducible scripts.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54864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164592" cy="128016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60120" y="3108960"/>
            <a:ext cx="5029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numbers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3520440"/>
            <a:ext cx="50292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PubMedBERT EM = 0.350; RAG full F1 = 0.115; RAG + gold F1 = 0.410 / BERT = 0.886.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54864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E3641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640080" y="4434840"/>
            <a:ext cx="164592" cy="1280160"/>
          </a:xfrm>
          <a:prstGeom prst="rect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3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trade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0120" y="4937760"/>
            <a:ext cx="50292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 NF4 squeezes a 14B model into 9 GB VRAM — single-card deployable.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0" y="1600200"/>
            <a:ext cx="5212080" cy="4297680"/>
          </a:xfrm>
          <a:prstGeom prst="roundRect">
            <a:avLst>
              <a:gd name="adj" fmla="val 2128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583680" y="1737360"/>
            <a:ext cx="4846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83680" y="2148840"/>
            <a:ext cx="4846320" cy="3657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retrieval: weighted fusion of BGE-M3 + BM25 for long-tail term recall.</a:t>
            </a:r>
            <a:endParaRPr lang="en-US" sz="13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Sentence-level chunking + citation-level evidence extraction to lift Recall@1.</a:t>
            </a:r>
            <a:endParaRPr lang="en-US" sz="13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/ DPO adaptation of the generator with explicit "abstain" training samples.</a:t>
            </a:r>
            <a:endParaRPr lang="en-US" sz="13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(Qwen2.5-72B) on the evaluation side for cross-validation.</a:t>
            </a:r>
            <a:endParaRPr lang="en-US" sz="1300" dirty="0"/>
          </a:p>
          <a:p>
            <a:pPr marL="342900" indent="-342900">
              <a:lnSpc>
                <a:spcPts val="28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Safety-aware calibration for clinical use — uncertainty proportional to risk.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02920" y="6565392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5C677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194560"/>
            <a:ext cx="12191695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B8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0" y="3703320"/>
            <a:ext cx="12191695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listening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4526280"/>
            <a:ext cx="1219169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8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 to take questions on methodology / evaluation / engineering / clinical fit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8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comp6713-medqa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8948</Words>
  <Application>WPS Office WWO_wpscloud_20260409124150-2e61b06350</Application>
  <PresentationFormat>宽屏</PresentationFormat>
  <Paragraphs>441</Paragraphs>
  <Slides>12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33" baseType="lpstr">
      <vt:lpstr>Arial</vt:lpstr>
      <vt:lpstr>宋体</vt:lpstr>
      <vt:lpstr>Wingdings</vt:lpstr>
      <vt:lpstr>Calibri</vt:lpstr>
      <vt:lpstr>Calibri</vt:lpstr>
      <vt:lpstr>Calibri</vt:lpstr>
      <vt:lpstr>Calibri</vt:lpstr>
      <vt:lpstr>Consolas</vt:lpstr>
      <vt:lpstr>Consolas</vt:lpstr>
      <vt:lpstr>Consolas</vt:lpstr>
      <vt:lpstr>微软雅黑</vt:lpstr>
      <vt:lpstr>汉仪旗黑KW 55S</vt:lpstr>
      <vt:lpstr>汉仪书宋二KW</vt:lpstr>
      <vt:lpstr>Kingsoft Confetti</vt:lpstr>
      <vt:lpstr>等线</vt:lpstr>
      <vt:lpstr>汉仪中等线KW</vt:lpstr>
      <vt:lpstr>DejaVu Sans</vt:lpstr>
      <vt:lpstr>MS PGothic</vt:lpstr>
      <vt:lpstr>Noto Sans Mono CJK JP</vt:lpstr>
      <vt:lpstr>宋体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COMP6713 MedQA Project</dc:title>
  <dc:creator>MedQA Team</dc:creator>
  <dc:subject>PptxGenJS Presentation</dc:subject>
  <cp:lastModifiedBy>Yuyi Zhu</cp:lastModifiedBy>
  <dcterms:created xsi:type="dcterms:W3CDTF">2026-04-23T13:23:29Z</dcterms:created>
  <dcterms:modified xsi:type="dcterms:W3CDTF">2026-04-23T13:23:29Z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0417B8D4F620463C0203EA694F4DE1B4_42</vt:lpwstr>
  </property>
  <property fmtid="{D5CDD505-2E9C-101B-9397-08002B2CF9AE}" pid="3" name="KSOProductBuildVer">
    <vt:lpwstr>2052-12.9.0.25970</vt:lpwstr>
  </property>
</Properties>
</file>